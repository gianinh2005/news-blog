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ial Bold" panose="020B0604020202020204" charset="0"/>
      <p:regular r:id="rId18"/>
    </p:embeddedFont>
    <p:embeddedFont>
      <p:font typeface="Calibri (MS)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5033" autoAdjust="0"/>
  </p:normalViewPr>
  <p:slideViewPr>
    <p:cSldViewPr>
      <p:cViewPr varScale="1">
        <p:scale>
          <a:sx n="55" d="100"/>
          <a:sy n="55" d="100"/>
        </p:scale>
        <p:origin x="65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B349A-B345-4482-82AD-63486F57295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8C8E52-9841-4D8C-A7BB-28D59076A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69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480D4-991D-41C2-918C-DDBC15E312E0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9E25-6841-4E74-97DD-9EDB45928A5F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95FF-7CB6-4AA1-A77D-0F2B5DED4EA8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8BD05-29F2-40FF-9145-BBCB25633C10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AD8A8-776D-4F8F-B884-06FE1CA66C0E}" type="datetime1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738B2-D72A-4142-BCF7-03579D1ECB11}" type="datetime1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1D05-88AD-4DB0-A3A3-28B9A4969AAE}" type="datetime1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0D9A2-827E-43DB-9A73-654F433D582F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10B76-4A57-4224-B26F-06BDC97EDCDE}" type="datetime1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1B09C-2663-4706-AACA-8DCBF786CE12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A54CA-8D97-4B05-AEB9-1B99802EAFD6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AFC82-C4FC-404F-9E9C-FD5BBAF00E58}" type="datetime1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3" name="Freeform 13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1371600" y="1960418"/>
            <a:ext cx="155448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2329731"/>
            <a:ext cx="1499615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000" b="1">
                <a:solidFill>
                  <a:srgbClr val="D97706"/>
                </a:solidFill>
                <a:latin typeface="Arial"/>
              </a:defRPr>
            </a:pPr>
            <a:r>
              <a:t>BÁO CÁO ĐỒ ÁN MÔN HỌC: MÃ NGUỒN MỞ</a:t>
            </a:r>
          </a:p>
          <a:p>
            <a:pPr algn="ctr">
              <a:spcAft>
                <a:spcPts val="1200"/>
              </a:spcAft>
              <a:defRPr sz="3200" b="1">
                <a:solidFill>
                  <a:srgbClr val="002D72"/>
                </a:solidFill>
                <a:latin typeface="Arial"/>
              </a:defRPr>
            </a:pPr>
            <a:r>
              <a:t>THIẾT KẾ VÀ XÂY DỰNG WEBSITE TIN TỨC</a:t>
            </a:r>
            <a:br/>
            <a:r>
              <a:t>VÀ BLOG CÁ NHÂN (NEWS &amp; BLOG PLATFORM)</a:t>
            </a:r>
          </a:p>
          <a:p>
            <a:pPr algn="ctr">
              <a:defRPr sz="1600" i="1">
                <a:solidFill>
                  <a:srgbClr val="2563EB"/>
                </a:solidFill>
                <a:latin typeface="Arial"/>
              </a:defRPr>
            </a:pPr>
            <a:r>
              <a:t>Ứng dụng Framework Laravel 11, Cơ sở dữ liệu MySQL, Bootstrap 5 &amp; Hệ thống Gamification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4624006"/>
            <a:ext cx="7391400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>
                <a:solidFill>
                  <a:srgbClr val="002D72"/>
                </a:solidFill>
                <a:latin typeface="Arial"/>
              </a:rPr>
              <a:t>Giảng viên hướng dẫn:  </a:t>
            </a:r>
            <a:r>
              <a:rPr>
                <a:solidFill>
                  <a:srgbClr val="0F172A"/>
                </a:solidFill>
                <a:latin typeface="Arial"/>
              </a:rPr>
              <a:t>ThS. / TS. Giảng Viên Phụ Trách Môn Học</a:t>
            </a:r>
          </a:p>
          <a:p>
            <a:pPr>
              <a:spcAft>
                <a:spcPts val="400"/>
              </a:spcAft>
            </a:pPr>
            <a:r>
              <a:rPr b="1">
                <a:solidFill>
                  <a:srgbClr val="002D72"/>
                </a:solidFill>
                <a:latin typeface="Arial"/>
              </a:rPr>
              <a:t>Nhóm sinh viên thực hiện:  </a:t>
            </a:r>
            <a:r>
              <a:rPr>
                <a:solidFill>
                  <a:srgbClr val="0F172A"/>
                </a:solidFill>
                <a:latin typeface="Arial"/>
              </a:rPr>
              <a:t>Gia Ninh &amp; Các thành viên Nhóm 05</a:t>
            </a: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28C911B7-72B1-603B-5C99-5C57F90A8183}"/>
              </a:ext>
            </a:extLst>
          </p:cNvPr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F757CAF5-A34B-B51E-3ABB-94DD10012FEC}"/>
                </a:ext>
              </a:extLst>
            </p:cNvPr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4">
            <a:extLst>
              <a:ext uri="{FF2B5EF4-FFF2-40B4-BE49-F238E27FC236}">
                <a16:creationId xmlns:a16="http://schemas.microsoft.com/office/drawing/2014/main" id="{2C4866F1-FFC5-427B-AE62-3EF981535861}"/>
              </a:ext>
            </a:extLst>
          </p:cNvPr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6E21EA1E-AEAD-69B9-AD3D-E0619EE445F8}"/>
                </a:ext>
              </a:extLst>
            </p:cNvPr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D317A9D4-F538-CFB0-4992-61686F85195C}"/>
              </a:ext>
            </a:extLst>
          </p:cNvPr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19FEC6CF-0608-C268-C947-7A98B37F331B}"/>
                </a:ext>
              </a:extLst>
            </p:cNvPr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8">
            <a:extLst>
              <a:ext uri="{FF2B5EF4-FFF2-40B4-BE49-F238E27FC236}">
                <a16:creationId xmlns:a16="http://schemas.microsoft.com/office/drawing/2014/main" id="{1D58A898-14EC-447B-471E-136D39EF758F}"/>
              </a:ext>
            </a:extLst>
          </p:cNvPr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36" name="Group 9">
            <a:extLst>
              <a:ext uri="{FF2B5EF4-FFF2-40B4-BE49-F238E27FC236}">
                <a16:creationId xmlns:a16="http://schemas.microsoft.com/office/drawing/2014/main" id="{9FF8DBA9-F277-0524-70B4-5B33823745B1}"/>
              </a:ext>
            </a:extLst>
          </p:cNvPr>
          <p:cNvGrpSpPr/>
          <p:nvPr/>
        </p:nvGrpSpPr>
        <p:grpSpPr>
          <a:xfrm>
            <a:off x="-15240" y="7567612"/>
            <a:ext cx="18303240" cy="2514600"/>
            <a:chOff x="0" y="0"/>
            <a:chExt cx="24404320" cy="3352800"/>
          </a:xfrm>
        </p:grpSpPr>
        <p:sp>
          <p:nvSpPr>
            <p:cNvPr id="37" name="Freeform 10" descr="A building with trees in the background  Description automatically generated">
              <a:extLst>
                <a:ext uri="{FF2B5EF4-FFF2-40B4-BE49-F238E27FC236}">
                  <a16:creationId xmlns:a16="http://schemas.microsoft.com/office/drawing/2014/main" id="{1070F918-C884-7318-A223-8E895FEF7FA8}"/>
                </a:ext>
              </a:extLst>
            </p:cNvPr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633" b="-166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11">
            <a:extLst>
              <a:ext uri="{FF2B5EF4-FFF2-40B4-BE49-F238E27FC236}">
                <a16:creationId xmlns:a16="http://schemas.microsoft.com/office/drawing/2014/main" id="{C32C850B-127D-A76C-FF4A-DAF3A39BB377}"/>
              </a:ext>
            </a:extLst>
          </p:cNvPr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grpSp>
        <p:nvGrpSpPr>
          <p:cNvPr id="39" name="Group 12">
            <a:extLst>
              <a:ext uri="{FF2B5EF4-FFF2-40B4-BE49-F238E27FC236}">
                <a16:creationId xmlns:a16="http://schemas.microsoft.com/office/drawing/2014/main" id="{963FEBE7-9AEC-E811-BBB1-08D29640A16E}"/>
              </a:ext>
            </a:extLst>
          </p:cNvPr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40" name="Freeform 13" descr="A white circle with blue and red text and a book with a graduation cap  Description automatically generated">
              <a:extLst>
                <a:ext uri="{FF2B5EF4-FFF2-40B4-BE49-F238E27FC236}">
                  <a16:creationId xmlns:a16="http://schemas.microsoft.com/office/drawing/2014/main" id="{801D8052-DEF0-66AA-84F1-A48BD0CA925A}"/>
                </a:ext>
              </a:extLst>
            </p:cNvPr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1B729032-6F38-CE36-26FA-EADD6904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47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10012" y="74790"/>
            <a:ext cx="10452725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4200" y="27089"/>
            <a:ext cx="999001" cy="999001"/>
            <a:chOff x="0" y="0"/>
            <a:chExt cx="1332001" cy="1332001"/>
          </a:xfrm>
        </p:grpSpPr>
        <p:sp>
          <p:nvSpPr>
            <p:cNvPr id="13" name="Freeform 13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NỘI DUNG BÁO CÁO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468880"/>
            <a:ext cx="7772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651760"/>
            <a:ext cx="630936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TỔNG QUAN &amp; ĐẶT VẤN ĐỀ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rPr sz="2000"/>
              <a:t>Bối cảnh tin tức số, lý do chọn đề tài và mục tiêu xây dựng nền tảng.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468880"/>
            <a:ext cx="7772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651760"/>
            <a:ext cx="630936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CÔNG NGHỆ NGUỒN MỞ SỬ DỤNG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rPr sz="2000"/>
              <a:t>Kiến trúc Laravel 11 MVC, Cơ sở dữ liệu MySQL và thư viện Bootstrap 5 / Chart.js.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480560"/>
            <a:ext cx="7772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466344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663440"/>
            <a:ext cx="630936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PHÂN TÍCH &amp; THIẾT KẾ HỆ THỐNG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rPr sz="2000"/>
              <a:t>Biểu đồ Use Case (39 Use Cases), Activity Diagram, Sequence Diagram &amp; CSDL ERD 3NF.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480560"/>
            <a:ext cx="7772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466344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663440"/>
            <a:ext cx="630936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TRẢI NGHIỆM NGƯỜI DÙNG &amp; TƯƠNG TÁC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rPr sz="2000"/>
              <a:t>Giao diện Editorial, Hỗ trợ thị giác, Thả 6 cảm xúc, Bookmark và Bình luận lồng nhau.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492240"/>
            <a:ext cx="7772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667512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6675120"/>
            <a:ext cx="630936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CỔNG QUẢN TRỊ ADMIN THÔNG MINH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rPr sz="2000"/>
              <a:t>Dashboard 3 biểu đồ Chart.js động, Phê duyệt bài viết, Quản trị viên &amp; Xuất CSV UTF-8 BOM.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6492240"/>
            <a:ext cx="7772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667512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75120"/>
            <a:ext cx="630936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TRÌNH DIỄN DEMO &amp; HƯỚNG PHÁT TRIỂN</a:t>
            </a:r>
          </a:p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rPr sz="2000"/>
              <a:t>Kịch bản Live Demo vòng đời bài viết, đánh giá kết quả và định hướng nâng cấp AI / WebSocket.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77515-2DD4-D8F7-17E1-012C41C1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58160" y="952125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TỔNG QUAN &amp; ĐẶT VẤN ĐỀ THỰC TIỄN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777240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743200"/>
            <a:ext cx="722376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2626"/>
                </a:solidFill>
                <a:latin typeface="Arial"/>
              </a:defRPr>
            </a:pPr>
            <a:r>
              <a:rPr sz="2000"/>
              <a:t>THÁCH THỨC &amp; THỰC TRẠNG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2000"/>
              <a:t>• Báo điện tử truyền thống cung cấp thông tin 1 chiều: Độc giả chỉ thụ động tiếp nhận, thiếu cơ hội tương tác và phản biện xã hội.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2000"/>
              <a:t>• Mạng xã hội phổ biến quá loãng thông tin: Tin tức rác, giật tít, thuật toán phân tán khiến độc giả khó tiếp cận kiến thức chuyên sâu.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2000"/>
              <a:t>• Thiếu cơ chế giữ chân tác giả: Người viết bài không có động lực sáng tạo nếu không được ghi nhận và tưởng thưởng xứng đáng.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2000"/>
              <a:t>• Trải nghiệm đọc chưa tối ưu: Bố cục rối mắt, quảng cáo tràn lan và thiếu công cụ bảo vệ thị giác khi đọc báo thời gian dài.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468880"/>
            <a:ext cx="777240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743200"/>
            <a:ext cx="722376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59669"/>
                </a:solidFill>
                <a:latin typeface="Arial"/>
              </a:defRPr>
            </a:pPr>
            <a:r>
              <a:rPr sz="2000"/>
              <a:t>GIẢI PHÁP CỦA NHÓM 05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2000"/>
              <a:t>✔ Xây dựng nền tảng lai (Hybrid Platform): Kết hợp Cổng tin tức chính thống chuyên nghiệp với Mạng xã hội Blog cá nhân đa góc nhìn.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2000"/>
              <a:t>✔ Tích hợp hệ sinh thái Gamification: Thưởng +100 EXP mỗi bài duyệt xuất bản, thăng cấp Level (Lv.1 - Lv.5) vinh danh tác giả.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2000"/>
              <a:t>✔ Tương tác cộng đồng đa chiều: Thả 6 cảm xúc, lưu bài (Bookmark), theo dõi tác giả và thảo luận phản hồi lồng nhau (Nested Comments).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2000"/>
              <a:t>✔ Thanh công cụ thị giác độc quyền: Tùy chỉnh phóng to chữ (A+/A-), bật chế độ nền dịu mắt (Sepia Mode) bảo vệ mắt độc giả.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E16DF60-0567-B7CE-A6E5-4BF02A80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3964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84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CÔNG NGHỆ MÃ NGUỒN MỞ SỬ DỤNG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512064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743200"/>
            <a:ext cx="4572000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3A8A"/>
                </a:solidFill>
                <a:latin typeface="Arial"/>
              </a:defRPr>
            </a:pPr>
            <a:r>
              <a:rPr sz="2000"/>
              <a:t>PHP 8.2 &amp; LARAVEL 11.X</a:t>
            </a:r>
          </a:p>
          <a:p>
            <a:pPr>
              <a:spcAft>
                <a:spcPts val="1200"/>
              </a:spcAft>
              <a:defRPr sz="1150" i="1">
                <a:solidFill>
                  <a:srgbClr val="475569"/>
                </a:solidFill>
                <a:latin typeface="Arial"/>
              </a:defRPr>
            </a:pPr>
            <a:r>
              <a:rPr sz="2000"/>
              <a:t>Backend &amp; Kiến trúc hệ thống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Framework PHP mã nguồn mở hàng đầu thế giới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Mô hình kiến trúc phân tầng MVC chuẩn mực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Eloquent ORM ánh xạ thực thể mạnh mẽ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Middleware xác thực phân quyền an toàn (RBAC)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Cơ chế bảo mật chống CSRF, XSS và SQL Injection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Hệ thống Database Notification toàn diện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68880"/>
            <a:ext cx="512064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2743200"/>
            <a:ext cx="4572000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rPr sz="2000"/>
              <a:t>MYSQL 8.0 &amp; CSDL QUAN HỆ</a:t>
            </a:r>
          </a:p>
          <a:p>
            <a:pPr>
              <a:spcAft>
                <a:spcPts val="1200"/>
              </a:spcAft>
              <a:defRPr sz="1150" i="1">
                <a:solidFill>
                  <a:srgbClr val="475569"/>
                </a:solidFill>
                <a:latin typeface="Arial"/>
              </a:defRPr>
            </a:pPr>
            <a:r>
              <a:rPr sz="2000"/>
              <a:t>Quản lý cơ sở dữ liệu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Hệ quản trị CSDL quan hệ mã nguồn mở mạnh mẽ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Chuẩn hóa mức 3NF, triệt tiêu trùng lặp dữ liệu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Gồm 12 bảng nghiệp vụ chuẩn hóa toàn diện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Ràng buộc khóa ngoại Foreign Keys ON DELETE CASCADE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Đánh chỉ mục Index tối ưu hóa tốc độ truy vấn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Tuân thủ nghiêm ngặt các nguyên lý ACID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0" y="2468880"/>
            <a:ext cx="512064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161520" y="2743200"/>
            <a:ext cx="4572000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rPr sz="2000"/>
              <a:t>BOOTSTRAP 5 &amp; CHART.JS</a:t>
            </a:r>
          </a:p>
          <a:p>
            <a:pPr>
              <a:spcAft>
                <a:spcPts val="1200"/>
              </a:spcAft>
              <a:defRPr sz="1150" i="1">
                <a:solidFill>
                  <a:srgbClr val="475569"/>
                </a:solidFill>
                <a:latin typeface="Arial"/>
              </a:defRPr>
            </a:pPr>
            <a:r>
              <a:rPr sz="2000"/>
              <a:t>Giao diện &amp; Trực quan hóa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Thiết kế Responsive tương thích 100% thiết bị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Phong cách Flat Editorial Design sang trọng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Trực quan hóa dữ liệu thống kê bằng Canvas Chart.js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Xử lý tương tác Client mượt mà bằng JavaScript ES6+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Xuất dữ liệu Excel/CSV chuẩn mã hóa UTF-8 BOM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• Thanh công cụ hỗ trợ thị giác cho người đọc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689231C-0896-088F-8D1A-320C7B6C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4970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10" name="Freeform 10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THÀNH VIÊN NHÓM 05 &amp; PHÂN CÔNG NHIỆM VỤ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7772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80"/>
            <a:ext cx="7040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2D72"/>
                </a:solidFill>
                <a:latin typeface="Arial"/>
              </a:defRPr>
            </a:pPr>
            <a:r>
              <a:rPr sz="2000"/>
              <a:t>GIA NINH</a:t>
            </a:r>
          </a:p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sz="2000"/>
              <a:t>Trưởng nhóm / Backend Lead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Thiết kế kiến trúc hệ thống tổng thể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Thiết kế CSDL MySQL 12 bảng chuẩn 3NF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Xây dựng Controllers, Models, Routes trong Laravel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Xử lý Authentication &amp; Middleware phân quyền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468880"/>
            <a:ext cx="7772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2697480"/>
            <a:ext cx="7040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2D72"/>
                </a:solidFill>
                <a:latin typeface="Arial"/>
              </a:defRPr>
            </a:pPr>
            <a:r>
              <a:rPr lang="en-US" sz="2000"/>
              <a:t>GIA THUẬN VÀ TUẤN PHONG</a:t>
            </a:r>
            <a:endParaRPr sz="2000"/>
          </a:p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sz="2000"/>
              <a:t>Frontend Developer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Thiết kế Layout giao diện bằng Blade Templates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Tối ưu giao diện Responsive với Bootstrap 5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Xây dựng Thanh công cụ hỗ trợ thị giác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Thiết kế giao diện Trang chủ &amp; Chi tiết bài viết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486400"/>
            <a:ext cx="7772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5715000"/>
            <a:ext cx="7040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2D72"/>
                </a:solidFill>
                <a:latin typeface="Arial"/>
              </a:defRPr>
            </a:pPr>
            <a:r>
              <a:rPr sz="2000"/>
              <a:t>THÀNH VIÊN 03</a:t>
            </a:r>
          </a:p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sz="2000"/>
              <a:t>Fullstack / Features Developer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Hiện thực tính năng 6 cảm xúc &amp; Bookmark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Phát triển hệ thống bình luận phản hồi lồng nhau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Tích hợp hệ thống thông báo Notification chuông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Trực quan hóa Dashboard với 3 biểu đồ Chart.js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5486400"/>
            <a:ext cx="7772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5715000"/>
            <a:ext cx="7040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2D72"/>
                </a:solidFill>
                <a:latin typeface="Arial"/>
              </a:defRPr>
            </a:pPr>
            <a:r>
              <a:rPr sz="2000"/>
              <a:t>THÀNH VIÊN 04</a:t>
            </a:r>
          </a:p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rPr sz="2000"/>
              <a:t>QA / Tester &amp; Technical Writer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Viết bộ kiểm thử tự động Feature Tests (10/10 tests pass)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Kiểm tra bảo mật, phân quyền và dữ liệu mồ côi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Soạn thảo tài liệu Báo cáo đồ án Word chi tiết</a:t>
            </a:r>
          </a:p>
          <a:p>
            <a:pPr>
              <a:spcAft>
                <a:spcPts val="2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✔ Biên soạn Slide thuyết trình và Kịch bản Demo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90B8446-C209-42E9-4B1D-2B99C2A6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97200" y="948848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10" name="Freeform 10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5 PHÂN HỆ CHỨC NĂNG CỐT LÕI (39 USE CASES)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51206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4572000" cy="197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1. ĐỘC GIẢ &amp; TRẢI NGHIỆM ĐỌC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Xem tin tức nổi bật, bài viết mới nhất, lọc theo chuyên mục, theo thẻ #Tag, tìm kiếm bài viết, công cụ thị giác bảo vệ mắt.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68880"/>
            <a:ext cx="51206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572000" cy="197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2. XÁC THỰC &amp; HỒ SƠ CÁ NHÂN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Đăng ký tài khoản, đăng nhập, quên và đặt lại mật khẩu qua email, cập nhật hồ sơ cá nhân (tên, tiểu sử bio, tải ảnh đại diện).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0" y="2468880"/>
            <a:ext cx="51206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161520" y="2697480"/>
            <a:ext cx="4572000" cy="197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3. TƯƠNG TÁC CỘNG ĐỒNG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Thả 6 cảm xúc (Like, Love, Haha, Wow, Sad, Angry), Lưu bài viết (Bookmark), Theo dõi tác giả, Bình luận phản hồi lồng nhau.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86400"/>
            <a:ext cx="51206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5715000"/>
            <a:ext cx="4572000" cy="197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4. TÁC GIẢ &amp; GAMIFICATION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Soạn bài viết Blog mới, Tải ảnh bìa thumbnail, Quản lý bài viết cá nhân, Tích lũy +100 EXP khi bài được duyệt để thăng cấp Level.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5486400"/>
            <a:ext cx="51206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5715000"/>
            <a:ext cx="4572000" cy="197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5. QUẢN TRỊ VIÊN (ADMIN PORTAL)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Dashboard thống kê 3 biểu đồ Chart.js, Phê duyệt bài viết nhanh, Từ chối bài viết kèm lý do, Quản lý chuyên mục và thành viên.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0" y="5486400"/>
            <a:ext cx="51206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161520" y="5715000"/>
            <a:ext cx="4572000" cy="197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D72"/>
                </a:solidFill>
                <a:latin typeface="Arial"/>
              </a:defRPr>
            </a:pPr>
            <a:r>
              <a:rPr sz="2000"/>
              <a:t>6. TIỆN ÍCH MỞ RỘNG ĐẶC BIỆT</a:t>
            </a:r>
          </a:p>
          <a:p>
            <a:pPr>
              <a:lnSpc>
                <a:spcPct val="125000"/>
              </a:lnSpc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Đăng ký nhận bản tin Newsletter qua email ở chân trang, Trích xuất dữ liệu Excel/CSV chuẩn mã hóa UTF-8 BOM không lỗi font.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250B4B6-794F-0B08-8083-BDE8DCAF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66720" y="940253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10" name="Freeform 10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PHÂN TÍCH CHỨC NĂNG: BIỂU ĐỒ USE CASE</a:t>
            </a:r>
          </a:p>
        </p:txBody>
      </p:sp>
      <p:pic>
        <p:nvPicPr>
          <p:cNvPr id="13" name="Picture 12" descr="diagram_use_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83" y="2079942"/>
            <a:ext cx="10539254" cy="776195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2435840" y="2377440"/>
            <a:ext cx="4572000" cy="6217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0" y="2560320"/>
            <a:ext cx="42062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2D72"/>
                </a:solidFill>
                <a:latin typeface="Arial"/>
              </a:defRPr>
            </a:pPr>
            <a:r>
              <a:t>4 TÁC NHÂN HỆ THỐNG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Khách vãng lai (Guest): Đọc tin tức, tìm kiếm bài, lọc theo thẻ/chuyên mục, đăng ký nhận bản tin Newsletter.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Thành viên (Member): Kế thừa quyền của Khách, có quyền thả cảm xúc, lưu bài, theo dõi tác giả, bình luận lồng nhau.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Tác giả (Author): Soạn bài viết blog, upload ảnh bìa, quản lý bài cá nhân, tích lũy điểm kinh nghiệm EXP.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Quản trị viên (Admin): Kiểm duyệt xuất bản bài viết, quản lý chuyên mục, khóa tài khoản vi phạm, theo dõi biểu đồ thống kê.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256D62D-9428-ED61-4A5B-1E522428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21000" y="93964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10" name="Freeform 10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QUY TRÌNH DUYỆT BÀI &amp; ĐỒNG BỘ DỮ LIỆU (ACTIVITY DIAGRAM)</a:t>
            </a:r>
          </a:p>
        </p:txBody>
      </p:sp>
      <p:pic>
        <p:nvPicPr>
          <p:cNvPr id="13" name="Picture 12" descr="diagram_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286000"/>
            <a:ext cx="10515600" cy="706685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1978640" y="2286000"/>
            <a:ext cx="5029200" cy="6309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0" y="2468880"/>
            <a:ext cx="4663440" cy="514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2D72"/>
                </a:solidFill>
                <a:latin typeface="Arial"/>
              </a:defRPr>
            </a:pPr>
            <a:r>
              <a:rPr sz="2000"/>
              <a:t>CHU TRÌNH XUẤT BẢN KHÉP KÍN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1. Tác giả soạn bài: Nhập tiêu đề, nội dung, chọn ảnh bìa thumbnail, chọn trạng thái 'Chờ duyệt' (pending).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2. Hệ thống kiểm tra: Form Validation hợp lệ -&gt; Lưu ảnh vào Storage -&gt; Tự tạo slug URL duy nhất -&gt; Lưu bài vào CSDL.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3. Admin kiểm duyệt: Xem bài chờ duyệt trên Dashboard -&gt; Bấm 'Phê duyệt' hoặc 'Từ chối' (kèm lý do).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4. Đồng bộ tức thì: Khi duyệt thành công, bài chuyển sang 'published' ra Trang chủ, tác giả được thưởng +100 EXP và nhận chuông thông báo.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F639F16-FBC9-2385-23CE-FC032F18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68600" y="93964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84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THIẾT KẾ CƠ SỞ DỮ LIỆU CHUẨN HÓA 3NF (ERD)</a:t>
            </a:r>
          </a:p>
        </p:txBody>
      </p:sp>
      <p:pic>
        <p:nvPicPr>
          <p:cNvPr id="13" name="Picture 12" descr="diagram_e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1" y="2286000"/>
            <a:ext cx="10515600" cy="63093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1978640" y="2286000"/>
            <a:ext cx="5029200" cy="6309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161520" y="2468880"/>
            <a:ext cx="466344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2D72"/>
                </a:solidFill>
                <a:latin typeface="Arial"/>
              </a:defRPr>
            </a:pPr>
            <a:r>
              <a:rPr sz="2000"/>
              <a:t>ĐẶC ĐIỂM KIẾN TRÚC CSDL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• 12 bảng nghiệp vụ chuẩn 3NF: Loại bỏ hoàn toàn dư thừa dữ liệu và dị thường khi cập nhật.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• Bảng trung tâm 'posts': Liên kết 1-N với categories, users, comments, post_reactions, saved_posts.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• Quan hệ Tự quy (Self-referencing): parent_id trong bảng comments tạo cây phản hồi phân cấp lồng nhau.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• Quan hệ Đa hình (Polymorphic): reportable_type/id trong bảng reports dùng chung để báo cáo bài viết và bình luận.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  <a:latin typeface="Arial"/>
              </a:defRPr>
            </a:pPr>
            <a:r>
              <a:rPr sz="2000"/>
              <a:t>• Ràng buộc ON DELETE CASCADE: Tự động dọn sạch dữ liệu mồ côi khi bài viết hoặc tài khoản bị xóa.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4478E4D-7AAF-DC83-1F6A-755F18CA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" name="Slide Number Placeholder 19">
            <a:extLst>
              <a:ext uri="{FF2B5EF4-FFF2-40B4-BE49-F238E27FC236}">
                <a16:creationId xmlns:a16="http://schemas.microsoft.com/office/drawing/2014/main" id="{15716BD2-C5C6-BA1D-D00A-233610F11083}"/>
              </a:ext>
            </a:extLst>
          </p:cNvPr>
          <p:cNvSpPr txBox="1">
            <a:spLocks/>
          </p:cNvSpPr>
          <p:nvPr/>
        </p:nvSpPr>
        <p:spPr>
          <a:xfrm>
            <a:off x="15621000" y="937982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10" name="Freeform 10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GIAO DIỆN NGƯỜI DÙNG &amp; TRẢI NGHIỆM ĐỌC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77440"/>
            <a:ext cx="7772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omepage_top_17930780434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68880"/>
            <a:ext cx="7589520" cy="4503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Box 14"/>
          <p:cNvSpPr txBox="1"/>
          <p:nvPr/>
        </p:nvSpPr>
        <p:spPr>
          <a:xfrm>
            <a:off x="1097280" y="7223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2D72"/>
                </a:solidFill>
              </a:defRPr>
            </a:pPr>
            <a:r>
              <a:t>Trang chủ phong cách Tạp chí Editorial &amp; Khối tin Tiêu điểm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377440"/>
            <a:ext cx="7772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rticle_detail_content_17930779606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468880"/>
            <a:ext cx="7589520" cy="47292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TextBox 17"/>
          <p:cNvSpPr txBox="1"/>
          <p:nvPr/>
        </p:nvSpPr>
        <p:spPr>
          <a:xfrm>
            <a:off x="9235440" y="7223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2D72"/>
                </a:solidFill>
              </a:defRPr>
            </a:pPr>
            <a:r>
              <a:t>Trang chi tiết bài viết, Tự động tăng View &amp; Thanh 6 cảm xúc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772400"/>
            <a:ext cx="16093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Đặc điểm nổi bật: Triết lý Flat Editorial sang trọng; Thanh công cụ hỗ trợ thị giác độc quyền (đổi cỡ chữ A+/A-, bật nền kem Sepia dịu mắt); Tương tác 6 cảm xúc bài viết; Tích hợp thẻ tác giả và danh sách Hashtag #Tag.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8D1CDA5-7AA1-BDCA-13BD-8578DB78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21000" y="937982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10" name="Freeform 10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TƯƠNG TÁC CỘNG ĐỒNG &amp; BÌNH LUẬN PHÂN CẤP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77440"/>
            <a:ext cx="7772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rticle_detail_comments_17930779986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68880"/>
            <a:ext cx="7589520" cy="4617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0" y="7223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2D72"/>
                </a:solidFill>
              </a:defRPr>
            </a:pPr>
            <a:r>
              <a:t>Hệ thống Bình luận &amp; Phản hồi lồng nhau phân cấp (Nested Replies)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377440"/>
            <a:ext cx="7772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ag_page_17930780963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468880"/>
            <a:ext cx="7589520" cy="4617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35440" y="7223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2D72"/>
                </a:solidFill>
              </a:defRPr>
            </a:pPr>
            <a:r>
              <a:t>Trang khám phá bài viết theo Thẻ chuyên đề (#Tag)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772400"/>
            <a:ext cx="16093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Tính năng tương tác sâu: Độc giả có thể phản hồi trực tiếp bình luận của người khác với thụt lề cấp 2 rõ ràng; Tác giả nhận thông báo chuông thời gian thực; Lưu bài viết vào danh mục cá nhân Bookmark và theo dõi tác giả yêu thích.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2F55BE5-BC22-9F6C-95DD-96ACF6D7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Slide Number Placeholder 19">
            <a:extLst>
              <a:ext uri="{FF2B5EF4-FFF2-40B4-BE49-F238E27FC236}">
                <a16:creationId xmlns:a16="http://schemas.microsoft.com/office/drawing/2014/main" id="{11AECDD5-14B4-7494-CDEE-16D0FEFB76E9}"/>
              </a:ext>
            </a:extLst>
          </p:cNvPr>
          <p:cNvSpPr txBox="1">
            <a:spLocks/>
          </p:cNvSpPr>
          <p:nvPr/>
        </p:nvSpPr>
        <p:spPr>
          <a:xfrm>
            <a:off x="15621000" y="937982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CỔNG QUẢN TRỊ ADMIN &amp; TRỰC QUAN HÓA SỐ LIỆU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77440"/>
            <a:ext cx="7772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dmin_dashboard_17930828078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68881"/>
            <a:ext cx="7589520" cy="46634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Box 14"/>
          <p:cNvSpPr txBox="1"/>
          <p:nvPr/>
        </p:nvSpPr>
        <p:spPr>
          <a:xfrm>
            <a:off x="1097280" y="7223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2D72"/>
                </a:solidFill>
              </a:defRPr>
            </a:pPr>
            <a:r>
              <a:t>Trang Dashboard KPIs &amp; 3 Biểu đồ Chart.js (Xu hướng, Danh mục, Cảm xúc)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377440"/>
            <a:ext cx="7772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dmin_posts_17930828212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468880"/>
            <a:ext cx="7589520" cy="46899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TextBox 17"/>
          <p:cNvSpPr txBox="1"/>
          <p:nvPr/>
        </p:nvSpPr>
        <p:spPr>
          <a:xfrm>
            <a:off x="9235440" y="7223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2D72"/>
                </a:solidFill>
              </a:defRPr>
            </a:pPr>
            <a:r>
              <a:t>Kiểm duyệt bài viết nhanh: Phê duyệt 1 chạm hoặc Từ chối kèm lý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772400"/>
            <a:ext cx="1609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rPr sz="1600"/>
              <a:t>Quản trị thông minh: Giám sát toàn bộ hoạt động tòa soạn qua 3 biểu đồ trực quan; Quản lý thành viên phân trang Bootstrap 5; Khóa tài khoản vi phạm; Trích xuất dữ liệu Excel/CSV chuẩn mã hóa UTF-8 BOM hiển thị tiếng Việt hoàn hảo.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0497579-365B-DD5C-C6A2-D06FE444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1" name="Slide Number Placeholder 19">
            <a:extLst>
              <a:ext uri="{FF2B5EF4-FFF2-40B4-BE49-F238E27FC236}">
                <a16:creationId xmlns:a16="http://schemas.microsoft.com/office/drawing/2014/main" id="{B224927A-01F5-910E-D7DC-F8E5B0A4E00C}"/>
              </a:ext>
            </a:extLst>
          </p:cNvPr>
          <p:cNvSpPr txBox="1">
            <a:spLocks/>
          </p:cNvSpPr>
          <p:nvPr/>
        </p:nvSpPr>
        <p:spPr>
          <a:xfrm>
            <a:off x="15621000" y="937982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KỊCH BẢN TRÌNH DIỄN HỆ THỐNG TRỰC TIẾP (LIVE DEMO)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7772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80"/>
            <a:ext cx="70408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rPr sz="2000"/>
              <a:t>BƯỚC 1: TRẢI NGHIỆM ĐỘC GIẢ (GUEST)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Đọc tin tức trên Trang chủ Editorial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Sử dụng công cụ thị giác: Tăng cỡ chữ, Bật nền kem Sepia dịu mắt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Đăng ký nhận bản tin Newsletter qua email tại Footer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468880"/>
            <a:ext cx="7772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2697480"/>
            <a:ext cx="7040880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2000"/>
              <a:t>BƯỚC 2: TÁC GIẢ &amp; TƯƠNG TÁC CỘNG ĐỒNG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Đăng nhập tài khoản Member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Thả cảm xúc Love ❤️ và Bookmark 🔖 bài viết vào Hồ sơ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Trả lời bình luận lồng nhau thụt lề cấp 2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Soạn bài viết Blog mới, upload ảnh bìa và gửi Chờ duyệt (pending)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486400"/>
            <a:ext cx="7772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5715000"/>
            <a:ext cx="7040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rPr sz="2000"/>
              <a:t>BƯỚC 3: CỔNG QUẢN TRỊ ADMIN PORTAL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Xem Dashboard với 3 biểu đồ Chart.js trực quan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Thực hiện xuất file dữ liệu CSV UTF-8 BOM mở bằng Excel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Vào Quản lý bài viết -&gt; Xem bài chờ duyệt -&gt; Bấm Phê duyệt xuất bản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5486400"/>
            <a:ext cx="7772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5715000"/>
            <a:ext cx="7040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rPr sz="2000"/>
              <a:t>BƯỚC 4: ĐỒNG BỘ DỮ LIỆU &amp; GAMIFICATION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Tác giả nhận thông báo quả chuông 🔔: 'Bài viết đã được duyệt!'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Điểm kinh nghiệm được tự động cộng +100 EXP, thăng hạng Level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2000"/>
              <a:t>✔ Bài viết mới chính thức xuất hiện trên Trang nhất website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FF2B09-7B3B-A3B4-F170-3497B5DC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2" name="Slide Number Placeholder 19">
            <a:extLst>
              <a:ext uri="{FF2B5EF4-FFF2-40B4-BE49-F238E27FC236}">
                <a16:creationId xmlns:a16="http://schemas.microsoft.com/office/drawing/2014/main" id="{224E82E4-2731-3C6C-5734-C92BE3A4A22F}"/>
              </a:ext>
            </a:extLst>
          </p:cNvPr>
          <p:cNvSpPr txBox="1">
            <a:spLocks/>
          </p:cNvSpPr>
          <p:nvPr/>
        </p:nvSpPr>
        <p:spPr>
          <a:xfrm>
            <a:off x="15621000" y="937982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88720"/>
            <a:ext cx="1609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MÔN HỌC: MÃ NGUỒN MỞ | NHÓM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1609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2D72"/>
                </a:solidFill>
                <a:latin typeface="Arial"/>
              </a:defRPr>
            </a:pPr>
            <a:r>
              <a:t>ĐÁNH GIÁ KẾT QUẢ &amp; HƯỚNG PHÁT TRIỂN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777240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743200"/>
            <a:ext cx="722376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2D72"/>
                </a:solidFill>
                <a:latin typeface="Arial"/>
              </a:defRPr>
            </a:pPr>
            <a:r>
              <a:rPr sz="2000"/>
              <a:t>KẾT QUẢ ĐẠT ĐƯỢC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✔ Hoàn thành 100% mục tiêu đề tài môn học Mã Nguồn Mở, xây dựng hoàn chỉnh website tin tức &amp; blog cá nhân.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✔ Thiết kế CSDL quan hệ 12 bảng chuẩn hóa 3NF, loại bỏ hoàn toàn dư thừa dữ liệu và đảm bảo toàn vẹn tham chiếu.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✔ Giao diện Editorial chuẩn Responsive, tích hợp thanh công cụ thị giác và 3 biểu đồ thống kê Chart.js động.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✔ Đảm bảo an toàn bảo mật: Middleware phân quyền, chống CSRF, XSS và SQL Injection bằng Eloquent ORM.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✔ Bộ kiểm thử tự động đạt 10/10 Feature Tests vượt qua tuyệt đối (19 assertions).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468880"/>
            <a:ext cx="777240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743200"/>
            <a:ext cx="7223760" cy="4529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97706"/>
                </a:solidFill>
                <a:latin typeface="Arial"/>
              </a:defRPr>
            </a:pPr>
            <a:r>
              <a:rPr sz="2000"/>
              <a:t>HƯỚNG PHÁT TRIỂN TƯƠNG LAI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🚀 Tích hợp WebSocket thời gian thực (Laravel Reverb / Pusher): Đẩy thông báo chuông, lượt cảm xúc và bình luận mới tức thì mà không cần làm mới trang.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🚀 Nâng cấp công cụ tìm kiếm: Tích hợp công nghệ tìm kiếm toàn văn Full-text Search (MeiliSearch hoặc Elasticsearch) cho tốc độ tìm kiếm siêu nhanh.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🚀 Xây dựng RESTful API chuẩn OpenAPI: Phục vụ phát triển ứng dụng di động Mobile App đa nền tảng (Flutter / React Native).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  <a:latin typeface="Arial"/>
              </a:defRPr>
            </a:pPr>
            <a:r>
              <a:rPr sz="2000"/>
              <a:t>🚀 Ứng dụng Trí tuệ Nhân tạo (AI): Tự động tóm tắt nội dung bài viết bằng Gemini API, gợi ý bài viết liên quan thông minh và hỗ trợ tác giả soát lỗi chính tả.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30F931A-41A9-DBAF-1B5A-02A09B23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8" name="Slide Number Placeholder 19">
            <a:extLst>
              <a:ext uri="{FF2B5EF4-FFF2-40B4-BE49-F238E27FC236}">
                <a16:creationId xmlns:a16="http://schemas.microsoft.com/office/drawing/2014/main" id="{02733A98-B12E-5FE1-91CF-0B55F0C1A4D5}"/>
              </a:ext>
            </a:extLst>
          </p:cNvPr>
          <p:cNvSpPr txBox="1">
            <a:spLocks/>
          </p:cNvSpPr>
          <p:nvPr/>
        </p:nvSpPr>
        <p:spPr>
          <a:xfrm>
            <a:off x="15621000" y="937982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8"/>
            <a:ext cx="18288000" cy="1070038"/>
            <a:chOff x="0" y="0"/>
            <a:chExt cx="24384000" cy="1426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77926" y="3334"/>
            <a:ext cx="4935598" cy="1027605"/>
            <a:chOff x="0" y="0"/>
            <a:chExt cx="6580797" cy="13701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84" b="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63190" y="10082212"/>
            <a:ext cx="15624810" cy="204845"/>
            <a:chOff x="0" y="0"/>
            <a:chExt cx="20833080" cy="2731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43238" y="10108759"/>
            <a:ext cx="15544724" cy="152705"/>
            <a:chOff x="0" y="0"/>
            <a:chExt cx="20726298" cy="203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57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2009" y="10002231"/>
            <a:ext cx="2254501" cy="32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011680"/>
            <a:ext cx="1463040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560320"/>
            <a:ext cx="13716000" cy="511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800" b="1">
                <a:solidFill>
                  <a:srgbClr val="002D72"/>
                </a:solidFill>
                <a:latin typeface="Arial"/>
              </a:defRPr>
            </a:pPr>
            <a:r>
              <a:rPr sz="3600"/>
              <a:t>XIN CHÂN THÀNH CẢM ƠN QUÝ THẦY CÔ</a:t>
            </a:r>
            <a:br>
              <a:rPr sz="3600"/>
            </a:br>
            <a:r>
              <a:rPr sz="3600"/>
              <a:t>VÀ CÁC BẠN ĐÃ LẮNG NGHE BÀI THUYẾT TRÌNH!</a:t>
            </a:r>
          </a:p>
          <a:p>
            <a:pPr algn="ctr">
              <a:spcAft>
                <a:spcPts val="1000"/>
              </a:spcAft>
              <a:defRPr sz="4400" b="1">
                <a:solidFill>
                  <a:srgbClr val="D97706"/>
                </a:solidFill>
                <a:latin typeface="Arial"/>
              </a:defRPr>
            </a:pPr>
            <a:r>
              <a:rPr sz="3600"/>
              <a:t>Q &amp; A</a:t>
            </a:r>
          </a:p>
          <a:p>
            <a:pPr algn="ctr">
              <a:spcAft>
                <a:spcPts val="1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rPr sz="3600"/>
              <a:t>KÍNH MỜI QUÝ THẦY CÔ VÀ CÁC BẠN ĐẶT CÂU HỎI &amp; ĐÓNG GÓP Ý KIẾN</a:t>
            </a:r>
          </a:p>
          <a:p>
            <a:pPr algn="ctr">
              <a:defRPr sz="1300" i="1">
                <a:solidFill>
                  <a:srgbClr val="475569"/>
                </a:solidFill>
                <a:latin typeface="Arial"/>
              </a:defRPr>
            </a:pPr>
            <a:r>
              <a:rPr sz="3600"/>
              <a:t>Đồ án Môn học: Mã Nguồn Mở | Nhóm 05</a:t>
            </a:r>
            <a:br>
              <a:rPr sz="3600"/>
            </a:br>
            <a:r>
              <a:rPr sz="3600"/>
              <a:t>Trường Đại học Công Thương Thành phố Hồ Chí Minh (HUIT) - 2026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EC28126-5E69-9017-58B9-9285EB75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4" name="Slide Number Placeholder 19">
            <a:extLst>
              <a:ext uri="{FF2B5EF4-FFF2-40B4-BE49-F238E27FC236}">
                <a16:creationId xmlns:a16="http://schemas.microsoft.com/office/drawing/2014/main" id="{B2D873E1-8B05-788C-46B6-D354B45A79D9}"/>
              </a:ext>
            </a:extLst>
          </p:cNvPr>
          <p:cNvSpPr txBox="1">
            <a:spLocks/>
          </p:cNvSpPr>
          <p:nvPr/>
        </p:nvSpPr>
        <p:spPr>
          <a:xfrm>
            <a:off x="15621000" y="937982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2754</Words>
  <Application>Microsoft Office PowerPoint</Application>
  <PresentationFormat>Custom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Aptos</vt:lpstr>
      <vt:lpstr>Calibri</vt:lpstr>
      <vt:lpstr>Arial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NHOM05_MaNguonMo</dc:title>
  <cp:lastModifiedBy>Thuận Phạm Đặng Gia</cp:lastModifiedBy>
  <cp:revision>4</cp:revision>
  <dcterms:created xsi:type="dcterms:W3CDTF">2006-08-16T00:00:00Z</dcterms:created>
  <dcterms:modified xsi:type="dcterms:W3CDTF">2026-10-27T07:43:05Z</dcterms:modified>
  <dc:identifier>DAHZK7m3uFo</dc:identifier>
</cp:coreProperties>
</file>